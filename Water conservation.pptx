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6" r:id="rId16"/>
    <p:sldId id="270" r:id="rId17"/>
    <p:sldId id="271" r:id="rId18"/>
    <p:sldId id="272" r:id="rId19"/>
    <p:sldId id="274" r:id="rId20"/>
    <p:sldId id="273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5C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5" autoAdjust="0"/>
    <p:restoredTop sz="94660"/>
  </p:normalViewPr>
  <p:slideViewPr>
    <p:cSldViewPr snapToGrid="0">
      <p:cViewPr>
        <p:scale>
          <a:sx n="71" d="100"/>
          <a:sy n="71" d="100"/>
        </p:scale>
        <p:origin x="-702" y="-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136" y="1410789"/>
            <a:ext cx="11364687" cy="884212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h="25400" prst="softRound"/>
            </a:sp3d>
          </a:bodyPr>
          <a:lstStyle/>
          <a:p>
            <a:pPr algn="ctr"/>
            <a:r>
              <a:rPr lang="en-US" sz="5000" dirty="0" smtClean="0"/>
              <a:t>Method of Water </a:t>
            </a:r>
            <a:r>
              <a:rPr lang="en-US" sz="5000" dirty="0" smtClean="0"/>
              <a:t>conservation</a:t>
            </a:r>
            <a:endParaRPr lang="en-IN" sz="5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638698"/>
            <a:ext cx="12192000" cy="2155371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00B0F0"/>
                </a:solidFill>
              </a:rPr>
              <a:t>Topic:</a:t>
            </a:r>
            <a:r>
              <a:rPr lang="en-US" sz="3600" dirty="0" smtClean="0">
                <a:solidFill>
                  <a:srgbClr val="00B0F0"/>
                </a:solidFill>
              </a:rPr>
              <a:t> Rainwater Harvesting</a:t>
            </a:r>
          </a:p>
          <a:p>
            <a:pPr algn="ctr"/>
            <a:endParaRPr lang="en-US" sz="3600" dirty="0" smtClean="0">
              <a:solidFill>
                <a:srgbClr val="00B0F0"/>
              </a:solidFill>
            </a:endParaRPr>
          </a:p>
          <a:p>
            <a:r>
              <a:rPr lang="en-IN" sz="3080" b="1" u="sng" dirty="0" smtClean="0">
                <a:solidFill>
                  <a:srgbClr val="00B0F0"/>
                </a:solidFill>
              </a:rPr>
              <a:t>Prepared by</a:t>
            </a:r>
            <a:r>
              <a:rPr lang="en-IN" sz="3080" b="1" dirty="0" smtClean="0">
                <a:solidFill>
                  <a:srgbClr val="00B0F0"/>
                </a:solidFill>
              </a:rPr>
              <a:t>: </a:t>
            </a:r>
            <a:r>
              <a:rPr lang="en-IN" sz="3080" dirty="0" smtClean="0">
                <a:solidFill>
                  <a:srgbClr val="00B0F0"/>
                </a:solidFill>
              </a:rPr>
              <a:t>Himesh Maniyar, </a:t>
            </a:r>
            <a:r>
              <a:rPr lang="en-IN" sz="3080" dirty="0" err="1" smtClean="0">
                <a:solidFill>
                  <a:srgbClr val="00B0F0"/>
                </a:solidFill>
              </a:rPr>
              <a:t>Sanket</a:t>
            </a:r>
            <a:r>
              <a:rPr lang="en-IN" sz="3080" dirty="0" smtClean="0">
                <a:solidFill>
                  <a:srgbClr val="00B0F0"/>
                </a:solidFill>
              </a:rPr>
              <a:t> </a:t>
            </a:r>
            <a:r>
              <a:rPr lang="en-IN" sz="3080" dirty="0" err="1" smtClean="0">
                <a:solidFill>
                  <a:srgbClr val="00B0F0"/>
                </a:solidFill>
              </a:rPr>
              <a:t>Banait</a:t>
            </a:r>
            <a:r>
              <a:rPr lang="en-IN" sz="3080" dirty="0" smtClean="0">
                <a:solidFill>
                  <a:srgbClr val="00B0F0"/>
                </a:solidFill>
              </a:rPr>
              <a:t>, </a:t>
            </a:r>
            <a:r>
              <a:rPr lang="en-IN" sz="3080" dirty="0" err="1" smtClean="0">
                <a:solidFill>
                  <a:srgbClr val="00B0F0"/>
                </a:solidFill>
              </a:rPr>
              <a:t>Priyanshu</a:t>
            </a:r>
            <a:r>
              <a:rPr lang="en-IN" sz="3080" dirty="0" smtClean="0">
                <a:solidFill>
                  <a:srgbClr val="00B0F0"/>
                </a:solidFill>
              </a:rPr>
              <a:t> </a:t>
            </a:r>
            <a:r>
              <a:rPr lang="en-IN" sz="3080" dirty="0" err="1" smtClean="0">
                <a:solidFill>
                  <a:srgbClr val="00B0F0"/>
                </a:solidFill>
              </a:rPr>
              <a:t>Kasliwal</a:t>
            </a:r>
            <a:endParaRPr lang="en-IN" sz="3080" dirty="0" smtClean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5591082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444" y="909652"/>
            <a:ext cx="7803735" cy="799507"/>
          </a:xfrm>
        </p:spPr>
        <p:txBody>
          <a:bodyPr>
            <a:normAutofit/>
          </a:bodyPr>
          <a:lstStyle/>
          <a:p>
            <a:r>
              <a:rPr lang="en-US" sz="2800" b="1" i="1" dirty="0" smtClean="0">
                <a:effectLst>
                  <a:glow rad="1231900">
                    <a:srgbClr val="00B050">
                      <a:alpha val="67000"/>
                    </a:srgbClr>
                  </a:glow>
                </a:effectLst>
              </a:rPr>
              <a:t>Need of water conservation   </a:t>
            </a:r>
            <a:endParaRPr lang="en-IN" sz="2800" b="1" i="1" dirty="0">
              <a:effectLst>
                <a:glow rad="1231900">
                  <a:srgbClr val="00B050">
                    <a:alpha val="67000"/>
                  </a:srgb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7092"/>
            <a:ext cx="11416554" cy="44967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We need to conserve water because of the following reasons:</a:t>
            </a:r>
          </a:p>
          <a:p>
            <a:r>
              <a:rPr lang="en-US" sz="1600" dirty="0"/>
              <a:t>Demand for water is on rise due to the increase in population and urban centers in the country.</a:t>
            </a:r>
          </a:p>
          <a:p>
            <a:r>
              <a:rPr lang="en-US" sz="1600" dirty="0"/>
              <a:t>Many water resources like rivers, lakes, ponds etc. are getting polluted.</a:t>
            </a:r>
          </a:p>
          <a:p>
            <a:r>
              <a:rPr lang="en-US" sz="1600" dirty="0"/>
              <a:t>Overuse of water has resulted in the lowering of water table in many regions.</a:t>
            </a:r>
          </a:p>
          <a:p>
            <a:r>
              <a:rPr lang="en-US" sz="1600" dirty="0"/>
              <a:t>Global warming has led to climatic changes. This has resulted in repeated droughts in several countries</a:t>
            </a:r>
            <a:r>
              <a:rPr lang="en-US" sz="1200" dirty="0" smtClean="0"/>
              <a:t>.</a:t>
            </a:r>
          </a:p>
          <a:p>
            <a:endParaRPr lang="en-US" sz="1200" dirty="0"/>
          </a:p>
          <a:p>
            <a:pPr>
              <a:buNone/>
            </a:pPr>
            <a:r>
              <a:rPr lang="en-US" sz="1200" dirty="0" smtClean="0"/>
              <a:t>                                                                </a:t>
            </a:r>
          </a:p>
          <a:p>
            <a:pPr>
              <a:buNone/>
            </a:pPr>
            <a:r>
              <a:rPr lang="en-US" sz="1200" dirty="0" smtClean="0"/>
              <a:t>                                                               </a:t>
            </a:r>
            <a:r>
              <a:rPr lang="en-US" sz="18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These </a:t>
            </a:r>
            <a:r>
              <a:rPr lang="en-US" sz="18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two shown images can clearly tell us the</a:t>
            </a:r>
          </a:p>
          <a:p>
            <a:pPr>
              <a:buNone/>
            </a:pPr>
            <a:r>
              <a:rPr lang="en-US" sz="18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                                            </a:t>
            </a:r>
            <a:r>
              <a:rPr lang="en-US" sz="18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condition of humans without water.</a:t>
            </a:r>
            <a:endParaRPr lang="en-IN" sz="1800" dirty="0"/>
          </a:p>
        </p:txBody>
      </p:sp>
      <p:pic>
        <p:nvPicPr>
          <p:cNvPr id="1026" name="Picture 2" descr="Water for Life: an African Photo Exhibit - Our 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0362" y="3890248"/>
            <a:ext cx="2628900" cy="1813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ar Diary - The importance of water - Journalist On The Ru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24958" y="3905671"/>
            <a:ext cx="2621808" cy="1939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without water life is problem [water crisis] — Steemit"/>
          <p:cNvSpPr>
            <a:spLocks noChangeAspect="1" noChangeArrowheads="1"/>
          </p:cNvSpPr>
          <p:nvPr/>
        </p:nvSpPr>
        <p:spPr bwMode="auto">
          <a:xfrm>
            <a:off x="9000472" y="4060067"/>
            <a:ext cx="2980732" cy="2980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8" descr="without water life is problem [water crisis] — Steemi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5766365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57129"/>
            <a:ext cx="11888624" cy="1237431"/>
          </a:xfrm>
        </p:spPr>
        <p:txBody>
          <a:bodyPr>
            <a:normAutofit/>
          </a:bodyPr>
          <a:lstStyle/>
          <a:p>
            <a:r>
              <a:rPr lang="en-IN" b="1" i="1" dirty="0" smtClean="0">
                <a:solidFill>
                  <a:srgbClr val="C5C5C5"/>
                </a:solidFill>
                <a:effectLst>
                  <a:glow rad="127000">
                    <a:srgbClr val="FF0000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571500" endPos="0" dist="50800" dir="5400000" sy="-100000" algn="bl" rotWithShape="0"/>
                </a:effectLst>
              </a:rPr>
              <a:t>What is the need of rain water harvesting</a:t>
            </a:r>
            <a:endParaRPr lang="en-IN" b="1" i="1" dirty="0">
              <a:solidFill>
                <a:srgbClr val="C5C5C5"/>
              </a:solidFill>
              <a:effectLst>
                <a:glow rad="127000">
                  <a:srgbClr val="FF0000"/>
                </a:glow>
                <a:outerShdw blurRad="38100" dist="38100" dir="2700000" algn="tl">
                  <a:srgbClr val="000000">
                    <a:alpha val="43137"/>
                  </a:srgbClr>
                </a:outerShdw>
                <a:reflection blurRad="571500" endPos="0" dist="50800" dir="5400000" sy="-100000" algn="bl" rotWithShape="0"/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u="sng" dirty="0"/>
              <a:t>Groundwater</a:t>
            </a:r>
            <a:r>
              <a:rPr lang="en-IN" dirty="0"/>
              <a:t> is the </a:t>
            </a:r>
            <a:r>
              <a:rPr lang="en-IN" u="sng" dirty="0"/>
              <a:t>primary source of freshwater</a:t>
            </a:r>
            <a:r>
              <a:rPr lang="en-IN" dirty="0"/>
              <a:t> that caters to the demand of ever-growing domestic, agrarian and industrial sectors of the country</a:t>
            </a:r>
            <a:r>
              <a:rPr lang="en-IN" dirty="0" smtClean="0"/>
              <a:t>.</a:t>
            </a:r>
          </a:p>
          <a:p>
            <a:pPr algn="just"/>
            <a:r>
              <a:rPr lang="en-IN" dirty="0" smtClean="0"/>
              <a:t>Over </a:t>
            </a:r>
            <a:r>
              <a:rPr lang="en-IN" dirty="0"/>
              <a:t>the years, it has been observed that the necessity for the exploitation of groundwater resources for various everyday needs, </a:t>
            </a:r>
            <a:r>
              <a:rPr lang="en-IN" dirty="0" smtClean="0"/>
              <a:t>like </a:t>
            </a:r>
            <a:r>
              <a:rPr lang="en-IN" u="sng" dirty="0"/>
              <a:t>bathing</a:t>
            </a:r>
            <a:r>
              <a:rPr lang="en-IN" dirty="0"/>
              <a:t>, </a:t>
            </a:r>
            <a:r>
              <a:rPr lang="en-IN" u="sng" dirty="0"/>
              <a:t>cleaning</a:t>
            </a:r>
            <a:r>
              <a:rPr lang="en-IN" dirty="0"/>
              <a:t>, </a:t>
            </a:r>
            <a:r>
              <a:rPr lang="en-IN" u="sng" dirty="0"/>
              <a:t>agriculture</a:t>
            </a:r>
            <a:r>
              <a:rPr lang="en-IN" dirty="0"/>
              <a:t>, </a:t>
            </a:r>
            <a:r>
              <a:rPr lang="en-IN" u="sng" dirty="0"/>
              <a:t>drinking water</a:t>
            </a:r>
            <a:r>
              <a:rPr lang="en-IN" dirty="0"/>
              <a:t>, </a:t>
            </a:r>
            <a:r>
              <a:rPr lang="en-IN" dirty="0" smtClean="0"/>
              <a:t>and </a:t>
            </a:r>
            <a:r>
              <a:rPr lang="en-IN" u="sng" dirty="0" smtClean="0"/>
              <a:t>industrial activities</a:t>
            </a:r>
            <a:r>
              <a:rPr lang="en-IN" dirty="0" smtClean="0"/>
              <a:t> directly/indirectly creates </a:t>
            </a:r>
            <a:r>
              <a:rPr lang="en-IN" dirty="0"/>
              <a:t>tremendous water wastage</a:t>
            </a:r>
            <a:r>
              <a:rPr lang="en-IN" dirty="0" smtClean="0"/>
              <a:t>.</a:t>
            </a:r>
          </a:p>
          <a:p>
            <a:pPr algn="just"/>
            <a:r>
              <a:rPr lang="en-IN" dirty="0"/>
              <a:t>In cities, </a:t>
            </a:r>
            <a:r>
              <a:rPr lang="en-IN" u="sng" dirty="0"/>
              <a:t>much of the </a:t>
            </a:r>
            <a:r>
              <a:rPr lang="en-IN" u="sng" dirty="0" smtClean="0"/>
              <a:t>rain</a:t>
            </a:r>
            <a:r>
              <a:rPr lang="en-IN" dirty="0"/>
              <a:t> that falls on buildings, roofs, roads, and other hard landscaping </a:t>
            </a:r>
            <a:r>
              <a:rPr lang="en-IN" u="sng" dirty="0"/>
              <a:t>does not </a:t>
            </a:r>
            <a:r>
              <a:rPr lang="en-IN" u="sng" dirty="0" smtClean="0"/>
              <a:t>percolate</a:t>
            </a:r>
            <a:r>
              <a:rPr lang="en-IN" u="sng" dirty="0"/>
              <a:t> </a:t>
            </a:r>
            <a:r>
              <a:rPr lang="en-IN" u="sng" dirty="0" smtClean="0"/>
              <a:t>into </a:t>
            </a:r>
            <a:r>
              <a:rPr lang="en-IN" u="sng" dirty="0"/>
              <a:t>the </a:t>
            </a:r>
            <a:r>
              <a:rPr lang="en-IN" u="sng" dirty="0" smtClean="0"/>
              <a:t>soil</a:t>
            </a:r>
            <a:r>
              <a:rPr lang="en-IN" dirty="0"/>
              <a:t> </a:t>
            </a:r>
            <a:r>
              <a:rPr lang="en-IN" dirty="0" smtClean="0"/>
              <a:t>and </a:t>
            </a:r>
            <a:r>
              <a:rPr lang="en-IN" dirty="0"/>
              <a:t>is</a:t>
            </a:r>
            <a:r>
              <a:rPr lang="en-IN" u="sng" dirty="0"/>
              <a:t> instead directed into storm sewers for disposal</a:t>
            </a:r>
            <a:r>
              <a:rPr lang="en-IN" dirty="0"/>
              <a:t>. </a:t>
            </a:r>
            <a:endParaRPr lang="en-IN" dirty="0" smtClean="0"/>
          </a:p>
          <a:p>
            <a:pPr algn="just"/>
            <a:r>
              <a:rPr lang="en-IN" dirty="0" smtClean="0"/>
              <a:t>During </a:t>
            </a:r>
            <a:r>
              <a:rPr lang="en-IN" dirty="0"/>
              <a:t>dry months, </a:t>
            </a:r>
            <a:r>
              <a:rPr lang="en-IN" u="sng" dirty="0"/>
              <a:t>local </a:t>
            </a:r>
            <a:r>
              <a:rPr lang="en-IN" u="sng" dirty="0" smtClean="0"/>
              <a:t>groundwater </a:t>
            </a:r>
            <a:r>
              <a:rPr lang="en-IN" u="sng" dirty="0" smtClean="0"/>
              <a:t>is</a:t>
            </a:r>
            <a:r>
              <a:rPr lang="en-IN" u="sng" dirty="0" smtClean="0"/>
              <a:t> </a:t>
            </a:r>
            <a:r>
              <a:rPr lang="en-IN" u="sng" dirty="0"/>
              <a:t>depleted</a:t>
            </a:r>
            <a:r>
              <a:rPr lang="en-IN" dirty="0"/>
              <a:t>, and many localities </a:t>
            </a:r>
            <a:r>
              <a:rPr lang="en-IN" u="sng" dirty="0"/>
              <a:t>struggle</a:t>
            </a:r>
            <a:r>
              <a:rPr lang="en-IN" dirty="0"/>
              <a:t> to consistently provide enough potable water to meet demand. 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9952725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Rainwater Harvesting - Waterways Environmental"/>
          <p:cNvPicPr>
            <a:picLocks noGrp="1"/>
          </p:cNvPicPr>
          <p:nvPr>
            <p:ph idx="1"/>
          </p:nvPr>
        </p:nvPicPr>
        <p:blipFill>
          <a:blip r:embed="rId2"/>
          <a:srcRect b="3833"/>
          <a:stretch>
            <a:fillRect/>
          </a:stretch>
        </p:blipFill>
        <p:spPr bwMode="auto">
          <a:xfrm>
            <a:off x="3495675" y="1303999"/>
            <a:ext cx="5400675" cy="4091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420738405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700" y="973923"/>
            <a:ext cx="8610600" cy="1293028"/>
          </a:xfrm>
        </p:spPr>
        <p:txBody>
          <a:bodyPr/>
          <a:lstStyle/>
          <a:p>
            <a:r>
              <a:rPr lang="en-IN" b="1" dirty="0">
                <a:effectLst>
                  <a:glow rad="800100">
                    <a:srgbClr val="92D050">
                      <a:alpha val="74000"/>
                    </a:srgbClr>
                  </a:glow>
                </a:effectLst>
              </a:rPr>
              <a:t>WHAT IS RAINWATER HARVESTING</a:t>
            </a:r>
            <a:endParaRPr lang="en-IN" dirty="0">
              <a:effectLst>
                <a:glow rad="800100">
                  <a:srgbClr val="92D050">
                    <a:alpha val="74000"/>
                  </a:srgb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Rainwater harvesting system, also called </a:t>
            </a:r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rainwater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catchment system, is the </a:t>
            </a:r>
            <a:r>
              <a:rPr lang="en-IN" u="sng" dirty="0">
                <a:solidFill>
                  <a:schemeClr val="accent2">
                    <a:lumMod val="75000"/>
                  </a:schemeClr>
                </a:solidFill>
              </a:rPr>
              <a:t>employment of </a:t>
            </a:r>
            <a:r>
              <a:rPr lang="en-IN" u="sng" dirty="0" smtClean="0">
                <a:solidFill>
                  <a:schemeClr val="accent2">
                    <a:lumMod val="75000"/>
                  </a:schemeClr>
                </a:solidFill>
              </a:rPr>
              <a:t>technology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that </a:t>
            </a:r>
            <a:r>
              <a:rPr lang="en-IN" u="sng" dirty="0">
                <a:solidFill>
                  <a:schemeClr val="accent2">
                    <a:lumMod val="75000"/>
                  </a:schemeClr>
                </a:solidFill>
              </a:rPr>
              <a:t>collects and stores </a:t>
            </a:r>
            <a:r>
              <a:rPr lang="en-IN" u="sng" dirty="0" smtClean="0">
                <a:solidFill>
                  <a:schemeClr val="accent2">
                    <a:lumMod val="75000"/>
                  </a:schemeClr>
                </a:solidFill>
              </a:rPr>
              <a:t>rainwater</a:t>
            </a:r>
            <a:r>
              <a:rPr lang="en-IN" u="sn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u="sng" dirty="0" smtClean="0">
                <a:solidFill>
                  <a:schemeClr val="accent2">
                    <a:lumMod val="75000"/>
                  </a:schemeClr>
                </a:solidFill>
              </a:rPr>
              <a:t>for </a:t>
            </a:r>
            <a:r>
              <a:rPr lang="en-IN" u="sng" dirty="0">
                <a:solidFill>
                  <a:schemeClr val="accent2">
                    <a:lumMod val="75000"/>
                  </a:schemeClr>
                </a:solidFill>
              </a:rPr>
              <a:t>human use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 and </a:t>
            </a:r>
            <a:r>
              <a:rPr lang="en-IN" u="sng" dirty="0">
                <a:solidFill>
                  <a:schemeClr val="accent2">
                    <a:lumMod val="75000"/>
                  </a:schemeClr>
                </a:solidFill>
              </a:rPr>
              <a:t>replenishes the groundwater as well</a:t>
            </a:r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Adopting rainwater </a:t>
            </a:r>
            <a:r>
              <a:rPr lang="en-IN" dirty="0">
                <a:solidFill>
                  <a:srgbClr val="00B0F0"/>
                </a:solidFill>
              </a:rPr>
              <a:t>harvesting</a:t>
            </a:r>
            <a:r>
              <a:rPr lang="en-IN" dirty="0"/>
              <a:t> </a:t>
            </a:r>
            <a:r>
              <a:rPr lang="en-IN" dirty="0">
                <a:solidFill>
                  <a:srgbClr val="00B0F0"/>
                </a:solidFill>
              </a:rPr>
              <a:t>and recharging </a:t>
            </a:r>
            <a:r>
              <a:rPr lang="en-IN" dirty="0"/>
              <a:t>groundwater is one of the simplest and best </a:t>
            </a:r>
            <a:r>
              <a:rPr lang="en-IN" dirty="0">
                <a:solidFill>
                  <a:srgbClr val="00B0F0"/>
                </a:solidFill>
              </a:rPr>
              <a:t>measures</a:t>
            </a:r>
            <a:r>
              <a:rPr lang="en-IN" dirty="0"/>
              <a:t> </a:t>
            </a:r>
            <a:r>
              <a:rPr lang="en-IN" dirty="0">
                <a:solidFill>
                  <a:srgbClr val="00B0F0"/>
                </a:solidFill>
              </a:rPr>
              <a:t>in conserving </a:t>
            </a:r>
            <a:r>
              <a:rPr lang="en-IN" dirty="0"/>
              <a:t>water globally</a:t>
            </a:r>
            <a:r>
              <a:rPr lang="en-IN" dirty="0" smtClean="0"/>
              <a:t>.</a:t>
            </a:r>
          </a:p>
          <a:p>
            <a:pPr algn="just"/>
            <a:endParaRPr lang="en-IN" dirty="0"/>
          </a:p>
          <a:p>
            <a:pPr algn="just"/>
            <a:r>
              <a:rPr lang="en-IN" dirty="0">
                <a:solidFill>
                  <a:srgbClr val="00B050"/>
                </a:solidFill>
              </a:rPr>
              <a:t>Rainwater harvesting is one of the simplest and oldest methods of self-supply of water for households, and residential and household-scale </a:t>
            </a:r>
            <a:r>
              <a:rPr lang="en-IN" dirty="0" smtClean="0">
                <a:solidFill>
                  <a:srgbClr val="00B050"/>
                </a:solidFill>
              </a:rPr>
              <a:t>projects</a:t>
            </a:r>
            <a:r>
              <a:rPr lang="en-IN" dirty="0" smtClean="0">
                <a:solidFill>
                  <a:srgbClr val="00B050"/>
                </a:solidFill>
              </a:rPr>
              <a:t>.</a:t>
            </a:r>
            <a:endParaRPr lang="en-IN" dirty="0">
              <a:solidFill>
                <a:srgbClr val="00B050"/>
              </a:solidFill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8814468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73" y="731520"/>
            <a:ext cx="9825176" cy="1371600"/>
          </a:xfrm>
        </p:spPr>
        <p:txBody>
          <a:bodyPr>
            <a:normAutofit/>
          </a:bodyPr>
          <a:lstStyle/>
          <a:p>
            <a:r>
              <a:rPr lang="en-IN" sz="2800" b="1" i="1" u="sng" dirty="0" smtClean="0">
                <a:solidFill>
                  <a:srgbClr val="FFFF00"/>
                </a:solidFill>
              </a:rPr>
              <a:t>Basic skeleton of rainwater harvesting</a:t>
            </a:r>
            <a:endParaRPr lang="en-IN" sz="2800" b="1" i="1" u="sng" dirty="0">
              <a:solidFill>
                <a:srgbClr val="FFFF00"/>
              </a:solidFill>
            </a:endParaRPr>
          </a:p>
        </p:txBody>
      </p:sp>
      <p:pic>
        <p:nvPicPr>
          <p:cNvPr id="4" name="Content Placeholder 3" descr="Rainwater Harvesting : All you need to know - GreenSutra®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751116" y="2193925"/>
            <a:ext cx="6689767" cy="402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670154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09385" y="1012469"/>
            <a:ext cx="11738361" cy="1072973"/>
          </a:xfrm>
        </p:spPr>
        <p:txBody>
          <a:bodyPr>
            <a:normAutofit/>
          </a:bodyPr>
          <a:lstStyle/>
          <a:p>
            <a:r>
              <a:rPr lang="en-IN" sz="3200" b="1" dirty="0">
                <a:effectLst>
                  <a:glow rad="927100">
                    <a:srgbClr val="00B050">
                      <a:alpha val="73000"/>
                    </a:srgbClr>
                  </a:glow>
                </a:effectLst>
              </a:rPr>
              <a:t>HOW </a:t>
            </a:r>
            <a:r>
              <a:rPr lang="en-IN" sz="3200" b="1" dirty="0" smtClean="0">
                <a:effectLst>
                  <a:glow rad="927100">
                    <a:srgbClr val="00B050">
                      <a:alpha val="73000"/>
                    </a:srgbClr>
                  </a:glow>
                </a:effectLst>
              </a:rPr>
              <a:t>rainwater harvesting </a:t>
            </a:r>
            <a:r>
              <a:rPr lang="en-IN" sz="3200" b="1" dirty="0">
                <a:effectLst>
                  <a:glow rad="927100">
                    <a:srgbClr val="00B050">
                      <a:alpha val="73000"/>
                    </a:srgbClr>
                  </a:glow>
                </a:effectLst>
              </a:rPr>
              <a:t>IS PRACTICED</a:t>
            </a:r>
            <a:endParaRPr lang="en-IN" sz="3200" dirty="0">
              <a:effectLst>
                <a:glow rad="927100">
                  <a:srgbClr val="00B050">
                    <a:alpha val="73000"/>
                  </a:srgb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79" y="2185035"/>
            <a:ext cx="11260183" cy="4291965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The process involves </a:t>
            </a:r>
            <a:r>
              <a:rPr lang="en-IN" dirty="0">
                <a:solidFill>
                  <a:srgbClr val="FFC000"/>
                </a:solidFill>
              </a:rPr>
              <a:t>collection</a:t>
            </a:r>
            <a:r>
              <a:rPr lang="en-IN" dirty="0"/>
              <a:t> and </a:t>
            </a:r>
            <a:r>
              <a:rPr lang="en-IN" dirty="0">
                <a:solidFill>
                  <a:srgbClr val="FFC000"/>
                </a:solidFill>
              </a:rPr>
              <a:t>storage of rainwater</a:t>
            </a:r>
            <a:r>
              <a:rPr lang="en-IN" dirty="0"/>
              <a:t> with </a:t>
            </a:r>
            <a:r>
              <a:rPr lang="en-IN" dirty="0">
                <a:solidFill>
                  <a:srgbClr val="FFC000"/>
                </a:solidFill>
              </a:rPr>
              <a:t>help of artificially designed systems</a:t>
            </a:r>
            <a:r>
              <a:rPr lang="en-IN" dirty="0"/>
              <a:t>, that </a:t>
            </a:r>
            <a:r>
              <a:rPr lang="en-IN" dirty="0">
                <a:solidFill>
                  <a:srgbClr val="FFC000"/>
                </a:solidFill>
              </a:rPr>
              <a:t>runs off natural or man-made catchment areas</a:t>
            </a:r>
            <a:r>
              <a:rPr lang="en-IN" dirty="0"/>
              <a:t> e.g. rooftop, rocky surface, hill slopes.</a:t>
            </a:r>
          </a:p>
          <a:p>
            <a:pPr algn="just"/>
            <a:r>
              <a:rPr lang="en-IN" dirty="0"/>
              <a:t>Water harvesting can be undertaken through a variety of ways. These </a:t>
            </a:r>
            <a:r>
              <a:rPr lang="en-IN" dirty="0" smtClean="0"/>
              <a:t>are:</a:t>
            </a:r>
            <a:endParaRPr lang="en-IN" dirty="0"/>
          </a:p>
          <a:p>
            <a:pPr lvl="1" algn="just"/>
            <a:r>
              <a:rPr lang="en-IN" sz="2200" dirty="0" smtClean="0"/>
              <a:t>C</a:t>
            </a:r>
            <a:r>
              <a:rPr lang="en-IN" sz="2200" dirty="0" smtClean="0"/>
              <a:t>apturing </a:t>
            </a:r>
            <a:r>
              <a:rPr lang="en-IN" sz="2200" dirty="0"/>
              <a:t>runoff from rooftops.</a:t>
            </a:r>
          </a:p>
          <a:p>
            <a:pPr lvl="1" algn="just"/>
            <a:r>
              <a:rPr lang="en-IN" sz="2200" dirty="0"/>
              <a:t>Capturing runoff from local </a:t>
            </a:r>
            <a:r>
              <a:rPr lang="en-IN" sz="2200" dirty="0" smtClean="0"/>
              <a:t>catchments</a:t>
            </a:r>
            <a:r>
              <a:rPr lang="en-IN" sz="2200" dirty="0" smtClean="0"/>
              <a:t>.</a:t>
            </a:r>
            <a:endParaRPr lang="en-IN" sz="2200" dirty="0"/>
          </a:p>
          <a:p>
            <a:pPr lvl="1" algn="just"/>
            <a:r>
              <a:rPr lang="en-IN" sz="2200" dirty="0"/>
              <a:t>Conserving water through watershed management</a:t>
            </a:r>
            <a:r>
              <a:rPr lang="en-IN" sz="2200" dirty="0" smtClean="0"/>
              <a:t>.</a:t>
            </a:r>
            <a:r>
              <a:rPr lang="en-US" sz="2200" dirty="0"/>
              <a:t> </a:t>
            </a:r>
            <a:endParaRPr lang="en-IN" sz="2200" dirty="0"/>
          </a:p>
          <a:p>
            <a:pPr algn="just"/>
            <a:r>
              <a:rPr lang="en-IN" dirty="0"/>
              <a:t>The collected rainwater from surfaces on which rain falls may be </a:t>
            </a:r>
            <a:r>
              <a:rPr lang="en-IN" dirty="0">
                <a:solidFill>
                  <a:srgbClr val="00B0F0"/>
                </a:solidFill>
              </a:rPr>
              <a:t>filtered</a:t>
            </a:r>
            <a:r>
              <a:rPr lang="en-IN" dirty="0"/>
              <a:t>, </a:t>
            </a:r>
            <a:r>
              <a:rPr lang="en-IN" dirty="0">
                <a:solidFill>
                  <a:srgbClr val="00B0F0"/>
                </a:solidFill>
              </a:rPr>
              <a:t>stored</a:t>
            </a:r>
            <a:r>
              <a:rPr lang="en-IN" dirty="0"/>
              <a:t> and </a:t>
            </a:r>
            <a:r>
              <a:rPr lang="en-IN" dirty="0">
                <a:solidFill>
                  <a:srgbClr val="00B0F0"/>
                </a:solidFill>
              </a:rPr>
              <a:t>utilized</a:t>
            </a:r>
            <a:r>
              <a:rPr lang="en-IN" dirty="0"/>
              <a:t> in different ways or </a:t>
            </a:r>
            <a:r>
              <a:rPr lang="en-IN" dirty="0">
                <a:solidFill>
                  <a:srgbClr val="00B0F0"/>
                </a:solidFill>
              </a:rPr>
              <a:t>directly used for recharge </a:t>
            </a:r>
            <a:r>
              <a:rPr lang="en-IN" dirty="0" smtClean="0">
                <a:solidFill>
                  <a:srgbClr val="00B0F0"/>
                </a:solidFill>
              </a:rPr>
              <a:t>purposes</a:t>
            </a:r>
            <a:r>
              <a:rPr lang="en-IN" dirty="0" smtClean="0"/>
              <a:t>.</a:t>
            </a:r>
          </a:p>
          <a:p>
            <a:pPr algn="just"/>
            <a:r>
              <a:rPr lang="en-IN" dirty="0" smtClean="0"/>
              <a:t>Rainwater </a:t>
            </a:r>
            <a:r>
              <a:rPr lang="en-IN" dirty="0"/>
              <a:t>Harvesting </a:t>
            </a:r>
            <a:r>
              <a:rPr lang="en-IN" dirty="0" smtClean="0">
                <a:solidFill>
                  <a:srgbClr val="00B0F0"/>
                </a:solidFill>
              </a:rPr>
              <a:t>doesn’t contain</a:t>
            </a:r>
            <a:r>
              <a:rPr lang="en-IN" dirty="0" smtClean="0">
                <a:solidFill>
                  <a:srgbClr val="00B0F0"/>
                </a:solidFill>
              </a:rPr>
              <a:t> </a:t>
            </a:r>
            <a:r>
              <a:rPr lang="en-IN" dirty="0">
                <a:solidFill>
                  <a:srgbClr val="00B0F0"/>
                </a:solidFill>
              </a:rPr>
              <a:t>any kind of impurity</a:t>
            </a:r>
            <a:r>
              <a:rPr lang="en-IN" dirty="0"/>
              <a:t>, with </a:t>
            </a:r>
            <a:r>
              <a:rPr lang="en-IN" dirty="0">
                <a:solidFill>
                  <a:srgbClr val="00B0F0"/>
                </a:solidFill>
              </a:rPr>
              <a:t>relatively less storage cost</a:t>
            </a:r>
            <a:r>
              <a:rPr lang="en-IN" dirty="0"/>
              <a:t> and </a:t>
            </a:r>
            <a:r>
              <a:rPr lang="en-IN" dirty="0">
                <a:solidFill>
                  <a:srgbClr val="00B0F0"/>
                </a:solidFill>
              </a:rPr>
              <a:t>no maintenance cost</a:t>
            </a:r>
            <a:r>
              <a:rPr lang="en-IN" dirty="0"/>
              <a:t> involved except for periodical cleaning.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7142157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6676" y="878673"/>
            <a:ext cx="11953875" cy="1293028"/>
          </a:xfrm>
        </p:spPr>
        <p:txBody>
          <a:bodyPr>
            <a:normAutofit/>
          </a:bodyPr>
          <a:lstStyle/>
          <a:p>
            <a:r>
              <a:rPr lang="en-IN" dirty="0" smtClean="0">
                <a:effectLst>
                  <a:glow rad="927100">
                    <a:srgbClr val="00B050">
                      <a:alpha val="66000"/>
                    </a:srgbClr>
                  </a:glow>
                </a:effectLst>
              </a:rPr>
              <a:t>Rainwater harvesting at individual level</a:t>
            </a:r>
            <a:endParaRPr lang="en-IN" dirty="0">
              <a:effectLst>
                <a:glow rad="927100">
                  <a:srgbClr val="00B050">
                    <a:alpha val="66000"/>
                  </a:srgbClr>
                </a:glow>
              </a:effectLst>
            </a:endParaRPr>
          </a:p>
        </p:txBody>
      </p:sp>
      <p:pic>
        <p:nvPicPr>
          <p:cNvPr id="4" name="Content Placeholder 3" descr="Rainwater Harvesting System Isometric Diagram Stock Vector - Illustration  of isometric, rain: 170058717"/>
          <p:cNvPicPr>
            <a:picLocks noGrp="1"/>
          </p:cNvPicPr>
          <p:nvPr>
            <p:ph idx="1"/>
          </p:nvPr>
        </p:nvPicPr>
        <p:blipFill>
          <a:blip r:embed="rId2"/>
          <a:srcRect b="7273"/>
          <a:stretch>
            <a:fillRect/>
          </a:stretch>
        </p:blipFill>
        <p:spPr bwMode="auto">
          <a:xfrm>
            <a:off x="3295651" y="2057401"/>
            <a:ext cx="6696074" cy="4600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41940007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988" y="712694"/>
            <a:ext cx="10995212" cy="1075765"/>
          </a:xfrm>
        </p:spPr>
        <p:txBody>
          <a:bodyPr>
            <a:normAutofit/>
          </a:bodyPr>
          <a:lstStyle/>
          <a:p>
            <a:r>
              <a:rPr lang="en-IN" sz="2800" b="1" dirty="0">
                <a:effectLst>
                  <a:glow rad="901700">
                    <a:srgbClr val="00B050">
                      <a:alpha val="68000"/>
                    </a:srgbClr>
                  </a:glow>
                </a:effectLst>
              </a:rPr>
              <a:t>HOW </a:t>
            </a:r>
            <a:r>
              <a:rPr lang="en-IN" sz="2800" b="1" dirty="0" smtClean="0">
                <a:effectLst>
                  <a:glow rad="901700">
                    <a:srgbClr val="00B050">
                      <a:alpha val="68000"/>
                    </a:srgbClr>
                  </a:glow>
                </a:effectLst>
              </a:rPr>
              <a:t>rainwater harvesting </a:t>
            </a:r>
            <a:r>
              <a:rPr lang="en-IN" sz="2800" b="1" dirty="0">
                <a:effectLst>
                  <a:glow rad="901700">
                    <a:srgbClr val="00B050">
                      <a:alpha val="68000"/>
                    </a:srgbClr>
                  </a:glow>
                </a:effectLst>
              </a:rPr>
              <a:t>IS PRACTICED IN ANCIENT </a:t>
            </a:r>
            <a:r>
              <a:rPr lang="en-IN" sz="2800" b="1" dirty="0" smtClean="0">
                <a:effectLst>
                  <a:glow rad="901700">
                    <a:srgbClr val="00B050">
                      <a:alpha val="68000"/>
                    </a:srgbClr>
                  </a:glow>
                </a:effectLst>
              </a:rPr>
              <a:t>INDIA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707" y="1546411"/>
            <a:ext cx="11806517" cy="5298141"/>
          </a:xfrm>
        </p:spPr>
        <p:txBody>
          <a:bodyPr>
            <a:normAutofit/>
          </a:bodyPr>
          <a:lstStyle/>
          <a:p>
            <a:pPr marL="0" indent="0" algn="just"/>
            <a:r>
              <a:rPr lang="en-IN" sz="2100" dirty="0"/>
              <a:t>Around 300 BC, Kutch, India, used rainwater harvesting for agriculture and many other uses. </a:t>
            </a:r>
            <a:endParaRPr lang="en-IN" sz="2100" dirty="0" smtClean="0"/>
          </a:p>
          <a:p>
            <a:pPr marL="0" indent="0" algn="just"/>
            <a:r>
              <a:rPr lang="en-IN" sz="2100" dirty="0" smtClean="0"/>
              <a:t>Rainwater </a:t>
            </a:r>
            <a:r>
              <a:rPr lang="en-IN" sz="2100" dirty="0"/>
              <a:t>harvesting was done by </a:t>
            </a:r>
            <a:r>
              <a:rPr lang="en-IN" sz="2100" dirty="0" err="1" smtClean="0"/>
              <a:t>Chola</a:t>
            </a:r>
            <a:r>
              <a:rPr lang="en-IN" sz="2100" dirty="0"/>
              <a:t> </a:t>
            </a:r>
            <a:r>
              <a:rPr lang="en-IN" sz="2100" dirty="0" smtClean="0"/>
              <a:t>kings</a:t>
            </a:r>
            <a:r>
              <a:rPr lang="en-IN" sz="2100" dirty="0"/>
              <a:t> as well. </a:t>
            </a:r>
            <a:endParaRPr lang="en-IN" sz="2100" dirty="0" smtClean="0"/>
          </a:p>
          <a:p>
            <a:pPr marL="0" indent="0" algn="just"/>
            <a:r>
              <a:rPr lang="en-IN" sz="2100" dirty="0" smtClean="0"/>
              <a:t>Rainwater </a:t>
            </a:r>
            <a:r>
              <a:rPr lang="en-IN" sz="2100" dirty="0"/>
              <a:t>from the </a:t>
            </a:r>
            <a:r>
              <a:rPr lang="en-IN" sz="2100" dirty="0" smtClean="0"/>
              <a:t>Brihadeeswarar</a:t>
            </a:r>
            <a:r>
              <a:rPr lang="en-IN" sz="2100" dirty="0"/>
              <a:t> </a:t>
            </a:r>
            <a:r>
              <a:rPr lang="en-IN" sz="2100" dirty="0" smtClean="0"/>
              <a:t>temple</a:t>
            </a:r>
            <a:r>
              <a:rPr lang="en-IN" sz="2100" dirty="0"/>
              <a:t> </a:t>
            </a:r>
            <a:r>
              <a:rPr lang="en-IN" sz="2100" dirty="0" smtClean="0"/>
              <a:t>in Thanjavur </a:t>
            </a:r>
            <a:r>
              <a:rPr lang="en-IN" sz="2100" dirty="0"/>
              <a:t>was collected in </a:t>
            </a:r>
            <a:r>
              <a:rPr lang="en-IN" sz="2100" dirty="0" err="1"/>
              <a:t>Shivaganga</a:t>
            </a:r>
            <a:r>
              <a:rPr lang="en-IN" sz="2100" dirty="0"/>
              <a:t> tank. </a:t>
            </a:r>
            <a:endParaRPr lang="en-IN" sz="2100" dirty="0" smtClean="0"/>
          </a:p>
          <a:p>
            <a:pPr marL="0" indent="0" algn="just"/>
            <a:r>
              <a:rPr lang="en-IN" sz="2100" dirty="0" smtClean="0"/>
              <a:t>During </a:t>
            </a:r>
            <a:r>
              <a:rPr lang="en-IN" sz="2100" dirty="0"/>
              <a:t>the later </a:t>
            </a:r>
            <a:r>
              <a:rPr lang="en-IN" sz="2100" dirty="0" err="1"/>
              <a:t>Chola</a:t>
            </a:r>
            <a:r>
              <a:rPr lang="en-IN" sz="2100" dirty="0"/>
              <a:t> period, the </a:t>
            </a:r>
            <a:r>
              <a:rPr lang="en-IN" sz="2100" dirty="0" err="1" smtClean="0"/>
              <a:t>Viranam</a:t>
            </a:r>
            <a:r>
              <a:rPr lang="en-IN" sz="2100" dirty="0" smtClean="0"/>
              <a:t> </a:t>
            </a:r>
            <a:r>
              <a:rPr lang="en-IN" sz="2100" dirty="0"/>
              <a:t>tank was </a:t>
            </a:r>
            <a:r>
              <a:rPr lang="en-IN" sz="2100" dirty="0" smtClean="0"/>
              <a:t>built in</a:t>
            </a:r>
            <a:r>
              <a:rPr lang="en-IN" sz="2100" dirty="0"/>
              <a:t> Tamil Nadu to store water for drinking and irrigation </a:t>
            </a:r>
            <a:r>
              <a:rPr lang="en-IN" sz="2100" dirty="0" smtClean="0"/>
              <a:t>purposes.</a:t>
            </a:r>
          </a:p>
          <a:p>
            <a:pPr marL="0" indent="0" algn="just"/>
            <a:r>
              <a:rPr lang="en-IN" sz="2100" dirty="0" smtClean="0"/>
              <a:t>The </a:t>
            </a:r>
            <a:r>
              <a:rPr lang="en-IN" sz="2100" dirty="0"/>
              <a:t>technology of rainwater harvesting is deeply rooted in the </a:t>
            </a:r>
            <a:r>
              <a:rPr lang="en-IN" sz="2100" dirty="0" smtClean="0"/>
              <a:t>spirit of</a:t>
            </a:r>
            <a:r>
              <a:rPr lang="en-IN" sz="2100" dirty="0" smtClean="0"/>
              <a:t> </a:t>
            </a:r>
            <a:r>
              <a:rPr lang="en-IN" sz="2100" dirty="0"/>
              <a:t>India with a variety of ancient </a:t>
            </a:r>
            <a:r>
              <a:rPr lang="en-IN" sz="2100" dirty="0" smtClean="0"/>
              <a:t>methods which are </a:t>
            </a:r>
            <a:r>
              <a:rPr lang="en-IN" sz="2100" dirty="0"/>
              <a:t>still found </a:t>
            </a:r>
            <a:r>
              <a:rPr lang="en-IN" sz="2100" dirty="0" smtClean="0"/>
              <a:t>today which include</a:t>
            </a:r>
            <a:r>
              <a:rPr lang="en-IN" sz="2100" dirty="0"/>
              <a:t>:</a:t>
            </a:r>
          </a:p>
          <a:p>
            <a:pPr lvl="1" algn="just"/>
            <a:r>
              <a:rPr lang="en-IN" sz="2100" dirty="0" err="1">
                <a:solidFill>
                  <a:srgbClr val="FFFF00"/>
                </a:solidFill>
              </a:rPr>
              <a:t>Talibs</a:t>
            </a:r>
            <a:r>
              <a:rPr lang="en-IN" sz="2100" dirty="0"/>
              <a:t>: Medium to large sized reservoirs that provide irrigation for plants as well as </a:t>
            </a:r>
            <a:r>
              <a:rPr lang="en-IN" sz="2100" dirty="0" smtClean="0"/>
              <a:t>drinking</a:t>
            </a:r>
            <a:r>
              <a:rPr lang="en-IN" sz="2100" dirty="0"/>
              <a:t>.</a:t>
            </a:r>
          </a:p>
          <a:p>
            <a:pPr lvl="1" algn="just"/>
            <a:r>
              <a:rPr lang="en-IN" sz="2100" dirty="0" err="1">
                <a:solidFill>
                  <a:srgbClr val="FFFF00"/>
                </a:solidFill>
              </a:rPr>
              <a:t>Johads</a:t>
            </a:r>
            <a:r>
              <a:rPr lang="en-IN" sz="2100" dirty="0"/>
              <a:t>: Dams that are used to capture and keep rainwater.</a:t>
            </a:r>
          </a:p>
          <a:p>
            <a:pPr lvl="1" algn="just"/>
            <a:r>
              <a:rPr lang="en-IN" sz="2100" dirty="0" err="1">
                <a:solidFill>
                  <a:srgbClr val="FFFF00"/>
                </a:solidFill>
              </a:rPr>
              <a:t>Baoris</a:t>
            </a:r>
            <a:r>
              <a:rPr lang="en-IN" sz="2100" dirty="0"/>
              <a:t>: Wells dug into the ground </a:t>
            </a:r>
            <a:r>
              <a:rPr lang="en-IN" sz="2100" dirty="0" smtClean="0"/>
              <a:t>are still often </a:t>
            </a:r>
            <a:r>
              <a:rPr lang="en-IN" sz="2100" dirty="0"/>
              <a:t>used for drinking.</a:t>
            </a:r>
          </a:p>
          <a:p>
            <a:pPr lvl="1" algn="just"/>
            <a:r>
              <a:rPr lang="en-IN" sz="2100" dirty="0" err="1">
                <a:solidFill>
                  <a:srgbClr val="FFFF00"/>
                </a:solidFill>
              </a:rPr>
              <a:t>Jhalaras</a:t>
            </a:r>
            <a:r>
              <a:rPr lang="en-IN" sz="2100" dirty="0"/>
              <a:t>: Specially constructed tanks that are used for the local community and </a:t>
            </a:r>
            <a:r>
              <a:rPr lang="en-IN" sz="2100" dirty="0" smtClean="0"/>
              <a:t>religious </a:t>
            </a:r>
            <a:r>
              <a:rPr lang="en-IN" sz="2100" dirty="0"/>
              <a:t>purposes.</a:t>
            </a:r>
          </a:p>
          <a:p>
            <a:pPr marL="0" indent="0" algn="just">
              <a:buNone/>
            </a:pP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xmlns="" val="317801676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4225" y="611973"/>
            <a:ext cx="5543550" cy="502452"/>
          </a:xfrm>
        </p:spPr>
        <p:txBody>
          <a:bodyPr>
            <a:noAutofit/>
          </a:bodyPr>
          <a:lstStyle/>
          <a:p>
            <a:r>
              <a:rPr lang="en-IN" sz="1600" dirty="0" smtClean="0">
                <a:solidFill>
                  <a:srgbClr val="FFFF00"/>
                </a:solidFill>
                <a:effectLst>
                  <a:glow rad="800100">
                    <a:srgbClr val="92D050">
                      <a:alpha val="43000"/>
                    </a:srgbClr>
                  </a:glow>
                </a:effectLst>
              </a:rPr>
              <a:t>Some images of ancient rain water harvesting</a:t>
            </a:r>
            <a:endParaRPr lang="en-IN" sz="1600" dirty="0">
              <a:solidFill>
                <a:srgbClr val="FFFF00"/>
              </a:solidFill>
              <a:effectLst>
                <a:glow rad="800100">
                  <a:srgbClr val="92D050">
                    <a:alpha val="43000"/>
                  </a:srgbClr>
                </a:glow>
              </a:effectLst>
            </a:endParaRPr>
          </a:p>
        </p:txBody>
      </p:sp>
      <p:pic>
        <p:nvPicPr>
          <p:cNvPr id="4" name="Content Placeholder 3" descr="Traditional Water Conservation Systems of India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38186" y="1272356"/>
            <a:ext cx="4865779" cy="2816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Sun Temple Modhera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37300" y="1259294"/>
            <a:ext cx="4692700" cy="2816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Water Harvesting in Ancient India Far Advanced than Present; Here is How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57601" y="4140927"/>
            <a:ext cx="5094514" cy="2564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61189601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101" y="724832"/>
            <a:ext cx="12230101" cy="1293028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effectLst>
                  <a:glow rad="889000">
                    <a:srgbClr val="00B050">
                      <a:alpha val="72000"/>
                    </a:srgbClr>
                  </a:glow>
                </a:effectLst>
              </a:rPr>
              <a:t>ADVANTAGES OF RAINWATER </a:t>
            </a:r>
            <a:r>
              <a:rPr lang="en-IN" b="1" dirty="0" smtClean="0">
                <a:effectLst>
                  <a:glow rad="889000">
                    <a:srgbClr val="00B050">
                      <a:alpha val="72000"/>
                    </a:srgbClr>
                  </a:glow>
                </a:effectLst>
              </a:rPr>
              <a:t>HARVESTING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099" y="2024743"/>
            <a:ext cx="11428911" cy="4833257"/>
          </a:xfrm>
        </p:spPr>
        <p:txBody>
          <a:bodyPr>
            <a:noAutofit/>
          </a:bodyPr>
          <a:lstStyle/>
          <a:p>
            <a:pPr lvl="0"/>
            <a:r>
              <a:rPr lang="en-IN" sz="1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The all-around expenditures </a:t>
            </a:r>
            <a:r>
              <a:rPr lang="en-IN" sz="19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is much cheaper compared to other purifying or pumping means.</a:t>
            </a:r>
            <a:endParaRPr lang="en-IN" sz="19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1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Rainwater harvesting systems are cost-effective, provide high-quality water, lessen dependence on wells and are considerably easy to maintain.</a:t>
            </a:r>
          </a:p>
          <a:p>
            <a:pPr lvl="0"/>
            <a:r>
              <a:rPr lang="en-IN" sz="1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It minimizes the impacts of flooding by </a:t>
            </a:r>
            <a:r>
              <a:rPr lang="en-IN" sz="19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funnelling </a:t>
            </a:r>
            <a:r>
              <a:rPr lang="en-IN" sz="1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the </a:t>
            </a:r>
            <a:r>
              <a:rPr lang="en-IN" sz="19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off-water </a:t>
            </a:r>
            <a:r>
              <a:rPr lang="en-IN" sz="19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into large tanks for recycling.</a:t>
            </a:r>
          </a:p>
          <a:p>
            <a:pPr lvl="0"/>
            <a:r>
              <a:rPr lang="en-IN" sz="1900" dirty="0"/>
              <a:t>It helps reduce the load placed upon drainage systems.</a:t>
            </a:r>
          </a:p>
          <a:p>
            <a:pPr lvl="0"/>
            <a:r>
              <a:rPr lang="en-IN" sz="1900" dirty="0"/>
              <a:t>No land is wasted for </a:t>
            </a:r>
            <a:r>
              <a:rPr lang="en-IN" sz="1900" dirty="0">
                <a:solidFill>
                  <a:srgbClr val="00B0F0"/>
                </a:solidFill>
              </a:rPr>
              <a:t>storage purpose and no population </a:t>
            </a:r>
            <a:r>
              <a:rPr lang="en-IN" sz="1900" dirty="0"/>
              <a:t>displacement is implicated therefore, groundwater is </a:t>
            </a:r>
            <a:r>
              <a:rPr lang="en-IN" sz="1900" dirty="0">
                <a:solidFill>
                  <a:srgbClr val="00B0F0"/>
                </a:solidFill>
              </a:rPr>
              <a:t>not directly exposed to evaporation and</a:t>
            </a:r>
            <a:r>
              <a:rPr lang="en-IN" sz="1900" dirty="0"/>
              <a:t> pollution</a:t>
            </a:r>
            <a:r>
              <a:rPr lang="en-IN" sz="1900" dirty="0" smtClean="0"/>
              <a:t>.</a:t>
            </a:r>
            <a:endParaRPr lang="en-IN" sz="1900" dirty="0"/>
          </a:p>
          <a:p>
            <a:pPr lvl="0"/>
            <a:r>
              <a:rPr lang="en-IN" sz="1900" dirty="0"/>
              <a:t>It reduces soil erosion and flood hazards by collecting rainwater</a:t>
            </a:r>
          </a:p>
          <a:p>
            <a:pPr lvl="0"/>
            <a:r>
              <a:rPr lang="en-IN" sz="1900" dirty="0">
                <a:solidFill>
                  <a:srgbClr val="00B050"/>
                </a:solidFill>
              </a:rPr>
              <a:t>It reduces the flow of storm-water to prevent urban flooding.</a:t>
            </a:r>
          </a:p>
          <a:p>
            <a:pPr lvl="0"/>
            <a:r>
              <a:rPr lang="en-IN" sz="1900" dirty="0">
                <a:solidFill>
                  <a:srgbClr val="00B050"/>
                </a:solidFill>
              </a:rPr>
              <a:t>It mitigates the effects of drought.</a:t>
            </a:r>
          </a:p>
          <a:p>
            <a:pPr lvl="0"/>
            <a:r>
              <a:rPr lang="en-IN" sz="1900" dirty="0">
                <a:solidFill>
                  <a:srgbClr val="00B050"/>
                </a:solidFill>
              </a:rPr>
              <a:t>Rainwater is mostly free from harmful chemicals, which makes it suitable for irrigation purposes.</a:t>
            </a:r>
          </a:p>
          <a:p>
            <a:pPr lvl="0"/>
            <a:r>
              <a:rPr lang="en-IN" sz="1900" dirty="0">
                <a:solidFill>
                  <a:srgbClr val="00B050"/>
                </a:solidFill>
              </a:rPr>
              <a:t>It increases the productivity of aquifer resulting in the rise of groundwater levels</a:t>
            </a:r>
          </a:p>
          <a:p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xmlns="" val="410784525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28676" y="1063457"/>
            <a:ext cx="12734926" cy="1293028"/>
          </a:xfrm>
        </p:spPr>
        <p:txBody>
          <a:bodyPr>
            <a:normAutofit/>
          </a:bodyPr>
          <a:lstStyle/>
          <a:p>
            <a:r>
              <a:rPr lang="en-IN" sz="2400" b="1" dirty="0">
                <a:effectLst>
                  <a:glow rad="914400">
                    <a:srgbClr val="00B050">
                      <a:alpha val="68000"/>
                    </a:srgbClr>
                  </a:glow>
                </a:effectLst>
              </a:rPr>
              <a:t>Methods of Rainwater harvesting adopted in rural and urban areas</a:t>
            </a:r>
            <a:endParaRPr lang="en-IN" sz="2400" dirty="0">
              <a:effectLst>
                <a:glow rad="914400">
                  <a:srgbClr val="00B050">
                    <a:alpha val="68000"/>
                  </a:srgb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225" y="2148522"/>
            <a:ext cx="10820400" cy="4024125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FFFF00"/>
                </a:solidFill>
              </a:rPr>
              <a:t>1. Surface runoff harvesting</a:t>
            </a:r>
            <a:endParaRPr lang="en-IN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In this method, rainwater </a:t>
            </a:r>
            <a:r>
              <a:rPr lang="en-IN" dirty="0">
                <a:solidFill>
                  <a:srgbClr val="00B0F0"/>
                </a:solidFill>
              </a:rPr>
              <a:t>flows away as surface runoff</a:t>
            </a:r>
            <a:r>
              <a:rPr lang="en-IN" dirty="0"/>
              <a:t> and </a:t>
            </a:r>
            <a:r>
              <a:rPr lang="en-IN" dirty="0">
                <a:solidFill>
                  <a:srgbClr val="00B0F0"/>
                </a:solidFill>
              </a:rPr>
              <a:t>can be stored</a:t>
            </a:r>
            <a:r>
              <a:rPr lang="en-IN" dirty="0"/>
              <a:t> for future use. Surface water can be </a:t>
            </a:r>
            <a:r>
              <a:rPr lang="en-IN" dirty="0">
                <a:solidFill>
                  <a:srgbClr val="00B0F0"/>
                </a:solidFill>
              </a:rPr>
              <a:t>stored by diverting the flow of small </a:t>
            </a:r>
            <a:r>
              <a:rPr lang="en-IN" dirty="0" smtClean="0">
                <a:solidFill>
                  <a:srgbClr val="00B0F0"/>
                </a:solidFill>
              </a:rPr>
              <a:t>creeks into </a:t>
            </a:r>
            <a:r>
              <a:rPr lang="en-IN" dirty="0">
                <a:solidFill>
                  <a:srgbClr val="00B0F0"/>
                </a:solidFill>
              </a:rPr>
              <a:t>reservoirs</a:t>
            </a:r>
            <a:r>
              <a:rPr lang="en-IN" dirty="0"/>
              <a:t> on the surface or underground. It can provide water for farming, for cattle and also for general domestic use. Surface runoff harvesting is </a:t>
            </a:r>
            <a:r>
              <a:rPr lang="en-IN" dirty="0">
                <a:solidFill>
                  <a:srgbClr val="00B0F0"/>
                </a:solidFill>
              </a:rPr>
              <a:t>most suitable in urban areas.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Rooftop rainwater/storm runoff can be harvested in urban areas through:</a:t>
            </a:r>
            <a:br>
              <a:rPr lang="en-IN" dirty="0"/>
            </a:br>
            <a:r>
              <a:rPr lang="en-IN" dirty="0"/>
              <a:t>• Recharge Pit</a:t>
            </a:r>
            <a:br>
              <a:rPr lang="en-IN" dirty="0"/>
            </a:br>
            <a:r>
              <a:rPr lang="en-IN" dirty="0"/>
              <a:t>• Recharge Trench</a:t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err="1"/>
              <a:t>Tubewell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• Recharge Well</a:t>
            </a:r>
          </a:p>
          <a:p>
            <a:endParaRPr lang="en-IN" dirty="0"/>
          </a:p>
        </p:txBody>
      </p:sp>
      <p:pic>
        <p:nvPicPr>
          <p:cNvPr id="1026" name="Picture 2" descr="Image result for surface runoff harves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67425" y="4810125"/>
            <a:ext cx="3352799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04732618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376" y="833718"/>
            <a:ext cx="10820400" cy="3300132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>
                <a:solidFill>
                  <a:srgbClr val="FFFF00"/>
                </a:solidFill>
              </a:rPr>
              <a:t>2. </a:t>
            </a:r>
            <a:r>
              <a:rPr lang="en-IN" b="1" dirty="0">
                <a:solidFill>
                  <a:srgbClr val="FFFF00"/>
                </a:solidFill>
              </a:rPr>
              <a:t>Groundwater recharge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Groundwater recharge is </a:t>
            </a:r>
            <a:r>
              <a:rPr lang="en-IN" dirty="0" smtClean="0"/>
              <a:t>a process </a:t>
            </a:r>
            <a:r>
              <a:rPr lang="en-IN" dirty="0"/>
              <a:t>where </a:t>
            </a:r>
            <a:r>
              <a:rPr lang="en-IN" dirty="0">
                <a:solidFill>
                  <a:srgbClr val="00B0F0"/>
                </a:solidFill>
              </a:rPr>
              <a:t>water moves downward from surface water to </a:t>
            </a:r>
            <a:r>
              <a:rPr lang="en-IN" dirty="0" smtClean="0">
                <a:solidFill>
                  <a:srgbClr val="00B0F0"/>
                </a:solidFill>
              </a:rPr>
              <a:t>groundwater</a:t>
            </a:r>
            <a:r>
              <a:rPr lang="en-IN" dirty="0" smtClean="0"/>
              <a:t>. </a:t>
            </a:r>
            <a:r>
              <a:rPr lang="en-IN" dirty="0"/>
              <a:t>The surplus rainwater can then be used to recharge </a:t>
            </a:r>
            <a:r>
              <a:rPr lang="en-IN" dirty="0" smtClean="0"/>
              <a:t>groundwater </a:t>
            </a:r>
            <a:r>
              <a:rPr lang="en-IN" dirty="0"/>
              <a:t>through </a:t>
            </a:r>
            <a:r>
              <a:rPr lang="en-IN" dirty="0" smtClean="0"/>
              <a:t>artificial recharge techniques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Rainwater in rural areas can be harvested through:</a:t>
            </a:r>
            <a:br>
              <a:rPr lang="en-IN" dirty="0" smtClean="0"/>
            </a:br>
            <a:r>
              <a:rPr lang="en-IN" dirty="0" smtClean="0"/>
              <a:t>• Gully </a:t>
            </a:r>
            <a:r>
              <a:rPr lang="en-IN" dirty="0" smtClean="0"/>
              <a:t>Plug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• </a:t>
            </a:r>
            <a:r>
              <a:rPr lang="en-IN" dirty="0" smtClean="0"/>
              <a:t>Dug well </a:t>
            </a:r>
            <a:r>
              <a:rPr lang="en-IN" dirty="0"/>
              <a:t>Recharge</a:t>
            </a:r>
            <a:br>
              <a:rPr lang="en-IN" dirty="0"/>
            </a:br>
            <a:r>
              <a:rPr lang="en-IN" dirty="0"/>
              <a:t>• Percolation Tank</a:t>
            </a:r>
            <a:br>
              <a:rPr lang="en-IN" dirty="0"/>
            </a:br>
            <a:r>
              <a:rPr lang="en-IN" dirty="0"/>
              <a:t>• Check </a:t>
            </a:r>
            <a:r>
              <a:rPr lang="en-IN" dirty="0" smtClean="0"/>
              <a:t>Dam</a:t>
            </a:r>
            <a:endParaRPr lang="en-IN" dirty="0"/>
          </a:p>
        </p:txBody>
      </p:sp>
      <p:sp>
        <p:nvSpPr>
          <p:cNvPr id="4" name="AutoShape 2" descr="Image result for groundwater recharge"/>
          <p:cNvSpPr>
            <a:spLocks noChangeAspect="1" noChangeArrowheads="1"/>
          </p:cNvSpPr>
          <p:nvPr/>
        </p:nvSpPr>
        <p:spPr bwMode="auto">
          <a:xfrm>
            <a:off x="2222500" y="181768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2" descr="Image result for groundwater rechar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AutoShape 20" descr="Image result for groundwater recharge images h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70" name="Picture 22" descr="Image result for groundwater recharge images h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84213" y="2891118"/>
            <a:ext cx="7489803" cy="3849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60135476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5151"/>
            <a:ext cx="12192000" cy="129302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effectLst>
                  <a:glow rad="914400">
                    <a:srgbClr val="00B050">
                      <a:alpha val="68000"/>
                    </a:srgbClr>
                  </a:glow>
                </a:effectLst>
              </a:rPr>
              <a:t>TRADITIONAL RAINWATER HARVESTING IN </a:t>
            </a:r>
            <a:r>
              <a:rPr lang="en-IN" sz="3200" b="1" dirty="0" smtClean="0">
                <a:effectLst>
                  <a:glow rad="914400">
                    <a:srgbClr val="00B050">
                      <a:alpha val="68000"/>
                    </a:srgbClr>
                  </a:glow>
                </a:effectLst>
              </a:rPr>
              <a:t>INDIA which are still present</a:t>
            </a:r>
            <a:endParaRPr lang="en-IN" sz="3200" dirty="0">
              <a:effectLst>
                <a:glow rad="914400">
                  <a:srgbClr val="00B050">
                    <a:alpha val="68000"/>
                  </a:srgb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152" y="1304365"/>
            <a:ext cx="11729197" cy="5553635"/>
          </a:xfrm>
        </p:spPr>
        <p:txBody>
          <a:bodyPr>
            <a:noAutofit/>
          </a:bodyPr>
          <a:lstStyle/>
          <a:p>
            <a:r>
              <a:rPr lang="en-IN" sz="2400" dirty="0" smtClean="0">
                <a:latin typeface="Engravers MT" pitchFamily="18" charset="0"/>
                <a:cs typeface="Arial" pitchFamily="34" charset="0"/>
              </a:rPr>
              <a:t>Himalayan </a:t>
            </a:r>
            <a:r>
              <a:rPr lang="en-IN" sz="2400" dirty="0" smtClean="0">
                <a:latin typeface="Engravers MT" pitchFamily="18" charset="0"/>
                <a:cs typeface="Arial" pitchFamily="34" charset="0"/>
              </a:rPr>
              <a:t>Region</a:t>
            </a:r>
          </a:p>
          <a:p>
            <a:pPr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IN" sz="2400" dirty="0" smtClean="0">
                <a:latin typeface="Arial" pitchFamily="34" charset="0"/>
                <a:cs typeface="Arial" pitchFamily="34" charset="0"/>
              </a:rPr>
            </a:br>
            <a:r>
              <a:rPr lang="en-IN" sz="2400" dirty="0" smtClean="0">
                <a:latin typeface="Arial" pitchFamily="34" charset="0"/>
                <a:cs typeface="Arial" pitchFamily="34" charset="0"/>
              </a:rPr>
              <a:t>Zing -Tanks for collecting water from melted ice in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Ladakh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.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/>
            </a:r>
            <a:br>
              <a:rPr lang="en-IN" sz="2400" dirty="0">
                <a:latin typeface="Arial" pitchFamily="34" charset="0"/>
                <a:cs typeface="Arial" pitchFamily="34" charset="0"/>
              </a:rPr>
            </a:br>
            <a:r>
              <a:rPr lang="en-IN" sz="2400" dirty="0" err="1">
                <a:latin typeface="Arial" pitchFamily="34" charset="0"/>
                <a:cs typeface="Arial" pitchFamily="34" charset="0"/>
              </a:rPr>
              <a:t>Kul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 -Water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channels in 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mountain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areas of Jammu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, Himachal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Pradesh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.</a:t>
            </a: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sz="2400" dirty="0">
              <a:latin typeface="Arial" pitchFamily="34" charset="0"/>
              <a:cs typeface="Arial" pitchFamily="34" charset="0"/>
            </a:endParaRPr>
          </a:p>
          <a:p>
            <a:r>
              <a:rPr lang="en-IN" sz="2400" dirty="0">
                <a:latin typeface="Engravers MT" pitchFamily="18" charset="0"/>
                <a:cs typeface="Arial" pitchFamily="34" charset="0"/>
              </a:rPr>
              <a:t>Eastern </a:t>
            </a:r>
            <a:r>
              <a:rPr lang="en-IN" sz="2400" dirty="0" smtClean="0">
                <a:latin typeface="Engravers MT" pitchFamily="18" charset="0"/>
                <a:cs typeface="Arial" pitchFamily="34" charset="0"/>
              </a:rPr>
              <a:t>Himalayas</a:t>
            </a:r>
          </a:p>
          <a:p>
            <a:pPr>
              <a:buNone/>
            </a:pPr>
            <a:r>
              <a:rPr lang="en-IN" sz="2400" dirty="0">
                <a:latin typeface="Arial" pitchFamily="34" charset="0"/>
                <a:cs typeface="Arial" pitchFamily="34" charset="0"/>
              </a:rPr>
              <a:t/>
            </a:r>
            <a:br>
              <a:rPr lang="en-IN" sz="2400" dirty="0">
                <a:latin typeface="Arial" pitchFamily="34" charset="0"/>
                <a:cs typeface="Arial" pitchFamily="34" charset="0"/>
              </a:rPr>
            </a:br>
            <a:r>
              <a:rPr lang="en-IN" sz="2400" dirty="0">
                <a:latin typeface="Arial" pitchFamily="34" charset="0"/>
                <a:cs typeface="Arial" pitchFamily="34" charset="0"/>
              </a:rPr>
              <a:t>Bamboo drip irrigation – Water from streams in the hills is brought to the plains via bamboo pipes for drip irrigation in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Meghalaya</a:t>
            </a:r>
          </a:p>
          <a:p>
            <a:pPr>
              <a:buNone/>
            </a:pPr>
            <a:endParaRPr lang="en-IN" sz="2400" dirty="0">
              <a:latin typeface="Arial" pitchFamily="34" charset="0"/>
              <a:cs typeface="Arial" pitchFamily="34" charset="0"/>
            </a:endParaRPr>
          </a:p>
          <a:p>
            <a:r>
              <a:rPr lang="en-IN" sz="2400" dirty="0">
                <a:latin typeface="Engravers MT" pitchFamily="18" charset="0"/>
                <a:cs typeface="Arial" pitchFamily="34" charset="0"/>
              </a:rPr>
              <a:t>Brahmaputra </a:t>
            </a:r>
            <a:r>
              <a:rPr lang="en-IN" sz="2400" dirty="0" smtClean="0">
                <a:latin typeface="Engravers MT" pitchFamily="18" charset="0"/>
                <a:cs typeface="Arial" pitchFamily="34" charset="0"/>
              </a:rPr>
              <a:t>Valley</a:t>
            </a:r>
          </a:p>
          <a:p>
            <a:pPr>
              <a:buNone/>
            </a:pPr>
            <a:endParaRPr lang="en-IN" sz="2400" dirty="0" smtClean="0">
              <a:latin typeface="Engravers MT" pitchFamily="18" charset="0"/>
              <a:cs typeface="Arial" pitchFamily="34" charset="0"/>
            </a:endParaRPr>
          </a:p>
          <a:p>
            <a:pPr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	Dongs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– Ponds in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Assam</a:t>
            </a:r>
          </a:p>
          <a:p>
            <a:pPr>
              <a:buNone/>
            </a:pPr>
            <a:endParaRPr lang="en-IN" sz="1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2833513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9596"/>
            <a:ext cx="12192000" cy="1293028"/>
          </a:xfrm>
        </p:spPr>
        <p:txBody>
          <a:bodyPr>
            <a:normAutofit/>
          </a:bodyPr>
          <a:lstStyle/>
          <a:p>
            <a:pPr algn="ctr"/>
            <a:r>
              <a:rPr lang="en-IN" b="1" dirty="0" smtClean="0">
                <a:effectLst>
                  <a:glow rad="914400">
                    <a:srgbClr val="00B050">
                      <a:alpha val="68000"/>
                    </a:srgbClr>
                  </a:glow>
                </a:effectLst>
              </a:rPr>
              <a:t>TRADITIONAL RAINWATER HARVESTING IN INDIA which are still present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494" y="2194560"/>
            <a:ext cx="11936506" cy="4024125"/>
          </a:xfrm>
        </p:spPr>
        <p:txBody>
          <a:bodyPr>
            <a:normAutofit lnSpcReduction="10000"/>
          </a:bodyPr>
          <a:lstStyle/>
          <a:p>
            <a:r>
              <a:rPr lang="en-IN" sz="2400" dirty="0" smtClean="0">
                <a:latin typeface="Engravers MT" pitchFamily="18" charset="0"/>
                <a:cs typeface="Arial" pitchFamily="34" charset="0"/>
              </a:rPr>
              <a:t>Indo-</a:t>
            </a:r>
            <a:r>
              <a:rPr lang="en-IN" sz="2400" dirty="0" err="1" smtClean="0">
                <a:latin typeface="Engravers MT" pitchFamily="18" charset="0"/>
                <a:cs typeface="Arial" pitchFamily="34" charset="0"/>
              </a:rPr>
              <a:t>Gangetic</a:t>
            </a:r>
            <a:r>
              <a:rPr lang="en-IN" sz="2400" dirty="0" smtClean="0">
                <a:latin typeface="Engravers MT" pitchFamily="18" charset="0"/>
                <a:cs typeface="Arial" pitchFamily="34" charset="0"/>
              </a:rPr>
              <a:t> Plain</a:t>
            </a:r>
          </a:p>
          <a:p>
            <a:pPr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IN" sz="2400" dirty="0" smtClean="0">
                <a:latin typeface="Arial" pitchFamily="34" charset="0"/>
                <a:cs typeface="Arial" pitchFamily="34" charset="0"/>
              </a:rPr>
            </a:b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Baolis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– secular structured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stepwells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from which everyone could draw water and use for washing and bathing.</a:t>
            </a:r>
          </a:p>
          <a:p>
            <a:pPr>
              <a:buNone/>
            </a:pP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400" dirty="0" err="1" smtClean="0">
                <a:latin typeface="Engravers MT" pitchFamily="18" charset="0"/>
                <a:cs typeface="Arial" pitchFamily="34" charset="0"/>
              </a:rPr>
              <a:t>Thar</a:t>
            </a:r>
            <a:r>
              <a:rPr lang="en-IN" sz="2400" dirty="0" smtClean="0">
                <a:latin typeface="Engravers MT" pitchFamily="18" charset="0"/>
                <a:cs typeface="Arial" pitchFamily="34" charset="0"/>
              </a:rPr>
              <a:t> Desert</a:t>
            </a:r>
          </a:p>
          <a:p>
            <a:pPr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IN" sz="2400" dirty="0" smtClean="0">
                <a:latin typeface="Arial" pitchFamily="34" charset="0"/>
                <a:cs typeface="Arial" pitchFamily="34" charset="0"/>
              </a:rPr>
            </a:b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Baoris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-Community wells in Rajasthan</a:t>
            </a:r>
            <a:br>
              <a:rPr lang="en-IN" sz="2400" dirty="0" smtClean="0">
                <a:latin typeface="Arial" pitchFamily="34" charset="0"/>
                <a:cs typeface="Arial" pitchFamily="34" charset="0"/>
              </a:rPr>
            </a:b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Tankas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-Underground tank Bikaner in Rajasthan</a:t>
            </a:r>
            <a:br>
              <a:rPr lang="en-IN" sz="2400" dirty="0" smtClean="0">
                <a:latin typeface="Arial" pitchFamily="34" charset="0"/>
                <a:cs typeface="Arial" pitchFamily="34" charset="0"/>
              </a:rPr>
            </a:b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Kund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– a circular underground well; having a saucer-shaped catchment area that gently slopes towards the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center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where the well is situated.</a:t>
            </a:r>
          </a:p>
          <a:p>
            <a:endParaRPr lang="en-US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rain water harvesting in trans himalayan reg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62256" y="1274112"/>
            <a:ext cx="3571875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358147" y="423026"/>
            <a:ext cx="3499971" cy="6762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FFFF00"/>
                </a:solidFill>
              </a:rPr>
              <a:t>Rain Water Harvesting in Trans Himalayan region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99792" y="5156369"/>
            <a:ext cx="3705225" cy="6762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FFFF00"/>
                </a:solidFill>
              </a:rPr>
              <a:t>Rain Water Harvesting in Brahmaputra valley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3076" name="Picture 4" descr="Image result for rain water harvesting in brahmaputra valley reg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46126" y="4044194"/>
            <a:ext cx="4356100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mage result for rain water harvesting in Thar Deser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46985" y="1213879"/>
            <a:ext cx="3937001" cy="276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379638" y="449919"/>
            <a:ext cx="2884486" cy="6381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 smtClean="0">
              <a:solidFill>
                <a:srgbClr val="FFFF00"/>
              </a:solidFill>
            </a:endParaRPr>
          </a:p>
          <a:p>
            <a:pPr algn="ctr"/>
            <a:r>
              <a:rPr lang="en-IN" dirty="0" smtClean="0">
                <a:solidFill>
                  <a:srgbClr val="FFFF00"/>
                </a:solidFill>
              </a:rPr>
              <a:t>Rain </a:t>
            </a:r>
            <a:r>
              <a:rPr lang="en-IN" dirty="0">
                <a:solidFill>
                  <a:srgbClr val="FFFF00"/>
                </a:solidFill>
              </a:rPr>
              <a:t>Water Harvesting in </a:t>
            </a:r>
            <a:r>
              <a:rPr lang="en-IN" dirty="0" err="1" smtClean="0">
                <a:solidFill>
                  <a:srgbClr val="FFFF00"/>
                </a:solidFill>
              </a:rPr>
              <a:t>Thar</a:t>
            </a:r>
            <a:r>
              <a:rPr lang="en-IN" dirty="0" smtClean="0">
                <a:solidFill>
                  <a:srgbClr val="FFFF00"/>
                </a:solidFill>
              </a:rPr>
              <a:t> Desert</a:t>
            </a:r>
            <a:endParaRPr lang="en-IN" dirty="0">
              <a:solidFill>
                <a:srgbClr val="FFFF00"/>
              </a:solidFill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84420429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69173"/>
            <a:ext cx="10934700" cy="1293028"/>
          </a:xfrm>
        </p:spPr>
        <p:txBody>
          <a:bodyPr>
            <a:normAutofit/>
          </a:bodyPr>
          <a:lstStyle/>
          <a:p>
            <a:r>
              <a:rPr lang="en-IN" sz="3200" b="1" dirty="0">
                <a:effectLst>
                  <a:glow rad="914400">
                    <a:srgbClr val="00B050">
                      <a:alpha val="68000"/>
                    </a:srgbClr>
                  </a:glow>
                </a:effectLst>
              </a:rPr>
              <a:t>TAMILNADU CASE STUDY OF RAINWATER HARVESTING</a:t>
            </a:r>
            <a:endParaRPr lang="en-IN" sz="3200" dirty="0">
              <a:effectLst>
                <a:glow rad="914400">
                  <a:srgbClr val="00B050">
                    <a:alpha val="68000"/>
                  </a:srgb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624" y="2181113"/>
            <a:ext cx="11766176" cy="4415790"/>
          </a:xfrm>
        </p:spPr>
        <p:txBody>
          <a:bodyPr>
            <a:normAutofit/>
          </a:bodyPr>
          <a:lstStyle/>
          <a:p>
            <a:pPr marL="0" indent="0" algn="just"/>
            <a:r>
              <a:rPr lang="en-IN" smtClean="0"/>
              <a:t> </a:t>
            </a:r>
            <a:r>
              <a:rPr lang="en-IN" dirty="0" smtClean="0"/>
              <a:t>The </a:t>
            </a:r>
            <a:r>
              <a:rPr lang="en-IN" dirty="0"/>
              <a:t>Rain Water Harvesting movement launched in </a:t>
            </a:r>
            <a:r>
              <a:rPr lang="en-IN" dirty="0" smtClean="0"/>
              <a:t>2001.</a:t>
            </a:r>
          </a:p>
          <a:p>
            <a:pPr marL="0" indent="0" algn="just"/>
            <a:r>
              <a:rPr lang="en-IN" dirty="0" smtClean="0"/>
              <a:t> It </a:t>
            </a:r>
            <a:r>
              <a:rPr lang="en-IN" dirty="0"/>
              <a:t>has had a tremendous impact in recharging the groundwater table all over Tamil Nadu. </a:t>
            </a:r>
            <a:endParaRPr lang="en-IN" dirty="0" smtClean="0"/>
          </a:p>
          <a:p>
            <a:pPr marL="0" indent="0" algn="just"/>
            <a:r>
              <a:rPr lang="en-IN" dirty="0" smtClean="0"/>
              <a:t> Amendments </a:t>
            </a:r>
            <a:r>
              <a:rPr lang="en-IN" dirty="0"/>
              <a:t>made to Section 215 (a) of the Tamil Nadu District Municipalities Act, 1920 and Building Rules 1973, have made it mandatory to provide RWH structures in all new </a:t>
            </a:r>
            <a:r>
              <a:rPr lang="en-IN" dirty="0" smtClean="0"/>
              <a:t>buildings</a:t>
            </a:r>
            <a:r>
              <a:rPr lang="en-IN" dirty="0" smtClean="0"/>
              <a:t>.</a:t>
            </a:r>
            <a:endParaRPr lang="en-IN" dirty="0"/>
          </a:p>
          <a:p>
            <a:pPr algn="just"/>
            <a:r>
              <a:rPr lang="en-IN" dirty="0"/>
              <a:t>Action Plan for IEC Activities</a:t>
            </a:r>
          </a:p>
          <a:p>
            <a:pPr lvl="1" algn="just"/>
            <a:r>
              <a:rPr lang="en-IN" dirty="0" smtClean="0"/>
              <a:t>Conduction </a:t>
            </a:r>
            <a:r>
              <a:rPr lang="en-IN" dirty="0"/>
              <a:t>of awareness programme with the coordination of Self Help Groups, Welfare Associations, and NGO’s and school children.</a:t>
            </a:r>
          </a:p>
          <a:p>
            <a:pPr lvl="1" algn="just"/>
            <a:r>
              <a:rPr lang="en-IN" dirty="0"/>
              <a:t>Setting up hoardings displaying the importance and benefits of the Rain Water Harvesting.</a:t>
            </a:r>
          </a:p>
          <a:p>
            <a:pPr lvl="1" algn="just"/>
            <a:r>
              <a:rPr lang="en-IN" dirty="0"/>
              <a:t>Door to Door campaign on Rain water harvesting with the participation of SHGs, NGOs.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7037854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388" y="590550"/>
            <a:ext cx="11577918" cy="61055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3200" b="1" dirty="0" smtClean="0">
                <a:solidFill>
                  <a:srgbClr val="002060"/>
                </a:solidFill>
                <a:effectLst>
                  <a:glow rad="673100">
                    <a:schemeClr val="accent3">
                      <a:lumMod val="60000"/>
                      <a:lumOff val="40000"/>
                      <a:alpha val="61000"/>
                    </a:schemeClr>
                  </a:glow>
                </a:effectLst>
              </a:rPr>
              <a:t>Action </a:t>
            </a:r>
            <a:r>
              <a:rPr lang="en-IN" sz="3200" b="1" dirty="0">
                <a:solidFill>
                  <a:srgbClr val="002060"/>
                </a:solidFill>
                <a:effectLst>
                  <a:glow rad="673100">
                    <a:schemeClr val="accent3">
                      <a:lumMod val="60000"/>
                      <a:lumOff val="40000"/>
                      <a:alpha val="61000"/>
                    </a:schemeClr>
                  </a:glow>
                </a:effectLst>
              </a:rPr>
              <a:t>plan for harvesting campus rain water</a:t>
            </a:r>
          </a:p>
          <a:p>
            <a:pPr lvl="0"/>
            <a:endParaRPr lang="en-IN" sz="2400" dirty="0" smtClean="0"/>
          </a:p>
          <a:p>
            <a:pPr lvl="0" algn="just"/>
            <a:r>
              <a:rPr lang="en-IN" sz="2400" dirty="0" smtClean="0"/>
              <a:t>Provision </a:t>
            </a:r>
            <a:r>
              <a:rPr lang="en-IN" sz="2400" dirty="0"/>
              <a:t>of rain water harvesting structures would also been monitored under Section 215 A of the Tamil Nadu District Municipalities Act, while giving plan approval.  </a:t>
            </a:r>
          </a:p>
          <a:p>
            <a:pPr lvl="0" algn="just"/>
            <a:r>
              <a:rPr lang="en-IN" sz="2400" dirty="0"/>
              <a:t>Rain Water Harvesting Structures </a:t>
            </a:r>
            <a:r>
              <a:rPr lang="en-IN" sz="2400" dirty="0" smtClean="0"/>
              <a:t>have </a:t>
            </a:r>
            <a:r>
              <a:rPr lang="en-IN" sz="2400" dirty="0"/>
              <a:t>been provided in </a:t>
            </a:r>
            <a:r>
              <a:rPr lang="en-IN" sz="2400" dirty="0" smtClean="0"/>
              <a:t>buildings due</a:t>
            </a:r>
            <a:r>
              <a:rPr lang="en-IN" sz="2400" dirty="0"/>
              <a:t> to Town </a:t>
            </a:r>
            <a:r>
              <a:rPr lang="en-IN" sz="2400" dirty="0" err="1"/>
              <a:t>Panchayats</a:t>
            </a:r>
            <a:r>
              <a:rPr lang="en-IN" sz="2400" dirty="0"/>
              <a:t> Department. </a:t>
            </a:r>
          </a:p>
          <a:p>
            <a:pPr lvl="0" algn="just"/>
            <a:r>
              <a:rPr lang="en-IN" sz="2400" dirty="0"/>
              <a:t>Necessary action taken to provide adequate Rain Water harvesting </a:t>
            </a:r>
            <a:r>
              <a:rPr lang="en-IN" sz="2400" dirty="0" smtClean="0"/>
              <a:t>structures.</a:t>
            </a:r>
            <a:endParaRPr lang="en-IN" sz="2400" dirty="0"/>
          </a:p>
          <a:p>
            <a:pPr lvl="0" algn="just"/>
            <a:r>
              <a:rPr lang="en-IN" sz="2400" dirty="0" smtClean="0"/>
              <a:t>N</a:t>
            </a:r>
            <a:r>
              <a:rPr lang="en-IN" sz="2400" dirty="0" smtClean="0"/>
              <a:t>ecessary </a:t>
            </a:r>
            <a:r>
              <a:rPr lang="en-IN" sz="2400" dirty="0"/>
              <a:t>action to rejuvenate existing Rain Water Harvesting </a:t>
            </a:r>
            <a:r>
              <a:rPr lang="en-IN" sz="2400" dirty="0" smtClean="0"/>
              <a:t>structures.</a:t>
            </a:r>
          </a:p>
          <a:p>
            <a:pPr lvl="0" algn="just">
              <a:buNone/>
            </a:pPr>
            <a:endParaRPr lang="en-IN" sz="2400" dirty="0"/>
          </a:p>
          <a:p>
            <a:pPr marL="0" indent="0" algn="just">
              <a:buNone/>
            </a:pP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The scheme has helped people in water-starved regions such as Chennai by raising water tables in most </a:t>
            </a:r>
            <a:r>
              <a:rPr lang="en-IN" sz="24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neighbourhoods. Chennai</a:t>
            </a: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had a 50% rise in water level in five years and the water quality significantly improved.</a:t>
            </a:r>
          </a:p>
        </p:txBody>
      </p:sp>
    </p:spTree>
    <p:extLst>
      <p:ext uri="{BB962C8B-B14F-4D97-AF65-F5344CB8AC3E}">
        <p14:creationId xmlns:p14="http://schemas.microsoft.com/office/powerpoint/2010/main" xmlns="" val="58421989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Image result for rainwater harvesting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50925" y="876301"/>
            <a:ext cx="7378700" cy="576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/>
          <p:cNvSpPr/>
          <p:nvPr/>
        </p:nvSpPr>
        <p:spPr>
          <a:xfrm>
            <a:off x="9163051" y="2247900"/>
            <a:ext cx="2933700" cy="2257426"/>
          </a:xfrm>
          <a:prstGeom prst="ellipse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 dirty="0" smtClean="0">
                <a:solidFill>
                  <a:schemeClr val="tx1"/>
                </a:solidFill>
              </a:rPr>
              <a:t>Rain Water Harvesting system of </a:t>
            </a:r>
            <a:r>
              <a:rPr lang="en-IN" b="1" i="1" dirty="0" smtClean="0">
                <a:solidFill>
                  <a:srgbClr val="FFFF00"/>
                </a:solidFill>
              </a:rPr>
              <a:t>Chennai</a:t>
            </a:r>
            <a:endParaRPr lang="en-IN" b="1" i="1" dirty="0">
              <a:solidFill>
                <a:srgbClr val="FFFF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 rot="10800000">
            <a:off x="8543925" y="3195638"/>
            <a:ext cx="504825" cy="36195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2548021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93931"/>
            <a:ext cx="11706225" cy="1293028"/>
          </a:xfrm>
        </p:spPr>
        <p:txBody>
          <a:bodyPr>
            <a:normAutofit/>
          </a:bodyPr>
          <a:lstStyle/>
          <a:p>
            <a:r>
              <a:rPr lang="en-IN" sz="3200" b="1" dirty="0">
                <a:effectLst>
                  <a:glow rad="914400">
                    <a:srgbClr val="00B050">
                      <a:alpha val="68000"/>
                    </a:srgbClr>
                  </a:glow>
                </a:effectLst>
              </a:rPr>
              <a:t>OTHER STATES IMPLEMENTING RAINWATER HARVESTING</a:t>
            </a:r>
            <a:endParaRPr lang="en-IN" sz="3200" dirty="0">
              <a:effectLst>
                <a:glow rad="914400">
                  <a:srgbClr val="00B050">
                    <a:alpha val="68000"/>
                  </a:srgb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259" y="1734670"/>
            <a:ext cx="11833412" cy="5123329"/>
          </a:xfrm>
        </p:spPr>
        <p:txBody>
          <a:bodyPr>
            <a:noAutofit/>
          </a:bodyPr>
          <a:lstStyle/>
          <a:p>
            <a:pPr marL="108000" indent="0" algn="just">
              <a:lnSpc>
                <a:spcPct val="120000"/>
              </a:lnSpc>
              <a:buNone/>
            </a:pPr>
            <a:r>
              <a:rPr lang="en-IN" sz="1760" dirty="0"/>
              <a:t>As a consequence of diminishing groundwater levels, many state governments implemented the idea of rainwater harvesting</a:t>
            </a:r>
            <a:r>
              <a:rPr lang="en-IN" sz="1760" dirty="0" smtClean="0"/>
              <a:t>.</a:t>
            </a:r>
            <a:r>
              <a:rPr lang="en-IN" sz="1760" dirty="0"/>
              <a:t> </a:t>
            </a:r>
          </a:p>
          <a:p>
            <a:pPr marL="108000" lvl="0" algn="just">
              <a:lnSpc>
                <a:spcPct val="120000"/>
              </a:lnSpc>
            </a:pPr>
            <a:r>
              <a:rPr lang="en-IN" sz="1760" dirty="0" smtClean="0"/>
              <a:t>In</a:t>
            </a:r>
            <a:r>
              <a:rPr lang="en-IN" sz="1760" dirty="0"/>
              <a:t> </a:t>
            </a:r>
            <a:r>
              <a:rPr lang="en-IN" sz="1760" b="1" i="1" dirty="0">
                <a:solidFill>
                  <a:srgbClr val="FFFF00"/>
                </a:solidFill>
              </a:rPr>
              <a:t>Bangalore</a:t>
            </a:r>
            <a:r>
              <a:rPr lang="en-IN" sz="1760" dirty="0"/>
              <a:t>, adoption of rainwater harvesting is mandatory for every owner or the occupier of a building</a:t>
            </a:r>
          </a:p>
          <a:p>
            <a:pPr marL="108000" lvl="0" algn="just">
              <a:lnSpc>
                <a:spcPct val="120000"/>
              </a:lnSpc>
            </a:pPr>
            <a:r>
              <a:rPr lang="en-IN" sz="1760" dirty="0"/>
              <a:t>In</a:t>
            </a:r>
            <a:r>
              <a:rPr lang="en-IN" sz="1760" b="1" i="1" dirty="0">
                <a:solidFill>
                  <a:srgbClr val="FFFF00"/>
                </a:solidFill>
              </a:rPr>
              <a:t> Rajasthan</a:t>
            </a:r>
            <a:r>
              <a:rPr lang="en-IN" sz="1760" dirty="0"/>
              <a:t>, rainwater harvesting has traditionally been practiced by the people of the </a:t>
            </a:r>
            <a:r>
              <a:rPr lang="en-IN" sz="1760" dirty="0" err="1"/>
              <a:t>Thar</a:t>
            </a:r>
            <a:r>
              <a:rPr lang="en-IN" sz="1760" dirty="0"/>
              <a:t> Desert. Many ancient water harvesting systems in Rajasthan have now been revived. Water harvesting systems are widely used in other areas of Rajasthan, as well, for example, the </a:t>
            </a:r>
            <a:r>
              <a:rPr lang="en-IN" sz="1760" dirty="0" err="1"/>
              <a:t>chauka</a:t>
            </a:r>
            <a:r>
              <a:rPr lang="en-IN" sz="1760" dirty="0"/>
              <a:t> system from the Jaipur district.</a:t>
            </a:r>
          </a:p>
          <a:p>
            <a:pPr marL="108000" lvl="0" algn="just">
              <a:lnSpc>
                <a:spcPct val="120000"/>
              </a:lnSpc>
            </a:pPr>
            <a:r>
              <a:rPr lang="en-IN" sz="1760" dirty="0" smtClean="0"/>
              <a:t>At </a:t>
            </a:r>
            <a:r>
              <a:rPr lang="en-IN" sz="1760" dirty="0"/>
              <a:t>present, in </a:t>
            </a:r>
            <a:r>
              <a:rPr lang="en-IN" sz="1760" b="1" i="1" dirty="0">
                <a:solidFill>
                  <a:srgbClr val="FFFF00"/>
                </a:solidFill>
              </a:rPr>
              <a:t>Pune</a:t>
            </a:r>
            <a:r>
              <a:rPr lang="en-IN" sz="1760" dirty="0"/>
              <a:t>, rainwater harvesting is compulsory for any new housing society to be registered.</a:t>
            </a:r>
          </a:p>
          <a:p>
            <a:pPr marL="0" lvl="0" algn="just">
              <a:lnSpc>
                <a:spcPct val="120000"/>
              </a:lnSpc>
              <a:spcAft>
                <a:spcPts val="600"/>
              </a:spcAft>
            </a:pPr>
            <a:r>
              <a:rPr lang="en-IN" sz="1760" dirty="0"/>
              <a:t>In </a:t>
            </a:r>
            <a:r>
              <a:rPr lang="en-IN" sz="1760" b="1" i="1" dirty="0">
                <a:solidFill>
                  <a:srgbClr val="FFFF00"/>
                </a:solidFill>
              </a:rPr>
              <a:t>Mumbai</a:t>
            </a:r>
            <a:r>
              <a:rPr lang="en-IN" sz="1760" dirty="0"/>
              <a:t>, </a:t>
            </a:r>
            <a:r>
              <a:rPr lang="en-IN" sz="1760" dirty="0" smtClean="0"/>
              <a:t>the </a:t>
            </a:r>
            <a:r>
              <a:rPr lang="en-IN" sz="1760" dirty="0"/>
              <a:t>Municipal Corporation of Greater Mumbai is planning to make rainwater harvesting mandatory for large </a:t>
            </a:r>
            <a:r>
              <a:rPr lang="en-IN" sz="1760" dirty="0" smtClean="0"/>
              <a:t>societies.</a:t>
            </a:r>
          </a:p>
          <a:p>
            <a:pPr marL="0" lvl="0" algn="just">
              <a:lnSpc>
                <a:spcPct val="120000"/>
              </a:lnSpc>
              <a:spcAft>
                <a:spcPts val="600"/>
              </a:spcAft>
            </a:pPr>
            <a:r>
              <a:rPr lang="en-IN" sz="1760" dirty="0" smtClean="0"/>
              <a:t>The </a:t>
            </a:r>
            <a:r>
              <a:rPr lang="en-IN" sz="1760" dirty="0"/>
              <a:t>Central Ground Water Authority (CGWA) has made rainwater harvesting mandatory in all institutions and residential colonies in notified areas (</a:t>
            </a:r>
            <a:r>
              <a:rPr lang="en-IN" sz="1760" dirty="0">
                <a:solidFill>
                  <a:srgbClr val="FFFF00"/>
                </a:solidFill>
              </a:rPr>
              <a:t>South and South-west Delhi </a:t>
            </a:r>
            <a:r>
              <a:rPr lang="en-IN" sz="1760" dirty="0"/>
              <a:t>and adjoining areas like </a:t>
            </a:r>
            <a:r>
              <a:rPr lang="en-IN" sz="1760" dirty="0">
                <a:solidFill>
                  <a:srgbClr val="FFFF00"/>
                </a:solidFill>
              </a:rPr>
              <a:t>Faridabad, Gurgaon and Ghaziabad</a:t>
            </a:r>
            <a:r>
              <a:rPr lang="en-IN" sz="1760" dirty="0"/>
              <a:t>). </a:t>
            </a:r>
          </a:p>
        </p:txBody>
      </p:sp>
    </p:spTree>
    <p:extLst>
      <p:ext uri="{BB962C8B-B14F-4D97-AF65-F5344CB8AC3E}">
        <p14:creationId xmlns:p14="http://schemas.microsoft.com/office/powerpoint/2010/main" xmlns="" val="202881617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522" y="1604900"/>
            <a:ext cx="10820400" cy="3266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8000" dirty="0" smtClean="0"/>
              <a:t>			</a:t>
            </a:r>
          </a:p>
          <a:p>
            <a:pPr marL="0" indent="0">
              <a:buNone/>
            </a:pPr>
            <a:r>
              <a:rPr lang="en-IN" sz="80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IN" sz="8000" b="1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	 </a:t>
            </a:r>
            <a:r>
              <a:rPr lang="en-IN" sz="8000" b="1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THANK Y   </a:t>
            </a:r>
            <a:r>
              <a:rPr lang="en-IN" sz="8000" b="1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U</a:t>
            </a:r>
            <a:endParaRPr lang="en-IN" sz="8000" b="1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122" name="Picture 2" descr="Image result for water drop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7699" t="2539" r="27640" b="9528"/>
          <a:stretch/>
        </p:blipFill>
        <p:spPr bwMode="auto">
          <a:xfrm>
            <a:off x="6929759" y="2861132"/>
            <a:ext cx="752030" cy="999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5906891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409</TotalTime>
  <Words>673</Words>
  <Application>Microsoft Office PowerPoint</Application>
  <PresentationFormat>Custom</PresentationFormat>
  <Paragraphs>108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Vapor Trail</vt:lpstr>
      <vt:lpstr>Method of Water conservation</vt:lpstr>
      <vt:lpstr>Need of water conservation   </vt:lpstr>
      <vt:lpstr>What is the need of rain water harvesting</vt:lpstr>
      <vt:lpstr>Slide 4</vt:lpstr>
      <vt:lpstr>WHAT IS RAINWATER HARVESTING</vt:lpstr>
      <vt:lpstr>Basic skeleton of rainwater harvesting</vt:lpstr>
      <vt:lpstr>HOW rainwater harvesting IS PRACTICED</vt:lpstr>
      <vt:lpstr>Rainwater harvesting at individual level</vt:lpstr>
      <vt:lpstr>HOW rainwater harvesting IS PRACTICED IN ANCIENT INDIA </vt:lpstr>
      <vt:lpstr>Some images of ancient rain water harvesting</vt:lpstr>
      <vt:lpstr>ADVANTAGES OF RAINWATER HARVESTING</vt:lpstr>
      <vt:lpstr>Methods of Rainwater harvesting adopted in rural and urban areas</vt:lpstr>
      <vt:lpstr>Slide 13</vt:lpstr>
      <vt:lpstr>TRADITIONAL RAINWATER HARVESTING IN INDIA which are still present</vt:lpstr>
      <vt:lpstr>TRADITIONAL RAINWATER HARVESTING IN INDIA which are still present</vt:lpstr>
      <vt:lpstr>Slide 16</vt:lpstr>
      <vt:lpstr>TAMILNADU CASE STUDY OF RAINWATER HARVESTING</vt:lpstr>
      <vt:lpstr>Slide 18</vt:lpstr>
      <vt:lpstr>Slide 19</vt:lpstr>
      <vt:lpstr>OTHER STATES IMPLEMENTING RAINWATER HARVESTING</vt:lpstr>
      <vt:lpstr>Slide 21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conservation</dc:title>
  <dc:creator>ASUS</dc:creator>
  <cp:lastModifiedBy>HP</cp:lastModifiedBy>
  <cp:revision>50</cp:revision>
  <dcterms:created xsi:type="dcterms:W3CDTF">2021-02-03T14:55:51Z</dcterms:created>
  <dcterms:modified xsi:type="dcterms:W3CDTF">2021-02-06T18:14:45Z</dcterms:modified>
</cp:coreProperties>
</file>